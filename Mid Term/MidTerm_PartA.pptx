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Young Serif"/>
      <p:regular r:id="rId12"/>
    </p:embeddedFont>
    <p:embeddedFont>
      <p:font typeface="Rubik"/>
      <p:regular r:id="rId13"/>
      <p:bold r:id="rId14"/>
      <p:italic r:id="rId15"/>
      <p:boldItalic r:id="rId16"/>
    </p:embeddedFont>
    <p:embeddedFont>
      <p:font typeface="Rubik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EB002FB-D4E7-4A9A-B707-DAEB48528CC0}">
  <a:tblStyle styleId="{AEB002FB-D4E7-4A9A-B707-DAEB48528C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ubik-regular.fntdata"/><Relationship Id="rId12" Type="http://schemas.openxmlformats.org/officeDocument/2006/relationships/font" Target="fonts/YoungSerif-regular.fntdata"/><Relationship Id="rId15" Type="http://schemas.openxmlformats.org/officeDocument/2006/relationships/font" Target="fonts/Rubik-italic.fntdata"/><Relationship Id="rId14" Type="http://schemas.openxmlformats.org/officeDocument/2006/relationships/font" Target="fonts/Rubik-bold.fntdata"/><Relationship Id="rId17" Type="http://schemas.openxmlformats.org/officeDocument/2006/relationships/font" Target="fonts/RubikSemiBold-regular.fntdata"/><Relationship Id="rId16" Type="http://schemas.openxmlformats.org/officeDocument/2006/relationships/font" Target="fonts/Rubik-boldItalic.fntdata"/><Relationship Id="rId19" Type="http://schemas.openxmlformats.org/officeDocument/2006/relationships/font" Target="fonts/RubikSemiBold-italic.fntdata"/><Relationship Id="rId18" Type="http://schemas.openxmlformats.org/officeDocument/2006/relationships/font" Target="fonts/Rubik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54cad1d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54cad1d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54cad1d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54cad1d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54cad1d4c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54cad1d4c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54cad1d4c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54cad1d4c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54cad1d4c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54cad1d4c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1" name="Google Shape;61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" name="Google Shape;98;p1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1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" name="Google Shape;109;p1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3" name="Google Shape;123;p2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1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1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1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4" name="Google Shape;134;p2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5" name="Google Shape;135;p22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22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9" name="Google Shape;139;p22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3" name="Google Shape;143;p2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45" name="Google Shape;145;p23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7" name="Google Shape;147;p23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2" name="Google Shape;152;p2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53" name="Google Shape;153;p2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24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4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6" name="Google Shape;156;p24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25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2" name="Google Shape;162;p25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3" name="Google Shape;163;p25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5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5" name="Google Shape;165;p25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6" name="Google Shape;166;p25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1" name="Google Shape;171;p2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26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7" name="Google Shape;177;p26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8" name="Google Shape;178;p26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2" name="Google Shape;182;p2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2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7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7" name="Google Shape;187;p27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27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9" name="Google Shape;189;p27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4" name="Google Shape;194;p2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2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8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9" name="Google Shape;199;p28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1" name="Google Shape;201;p28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2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3" name="Google Shape;203;p28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28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28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0" name="Google Shape;210;p29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Term Project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Fine Tuning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idx="4294967295" type="title"/>
          </p:nvPr>
        </p:nvSpPr>
        <p:spPr>
          <a:xfrm>
            <a:off x="226050" y="0"/>
            <a:ext cx="8691900" cy="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00"/>
              <a:t>Survey of LLM Fine-Tuning Techniques</a:t>
            </a:r>
            <a:endParaRPr sz="3300"/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188175" y="860225"/>
            <a:ext cx="4292100" cy="41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What is LLM Fine-Tuning?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Pre-trained LLMs (GPT-4, LLaMA, DeepSeek) learn general language from massive text corpora using next-token prediction. Fine-tuning adapts these pre-trained models to specific tasks, domains, or desired behaviors.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Why is Fine-Tuning Needed?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A base LLM just predicts the next word — it doesn't follow instructions or behave like a chatbot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Fine-tuning is what transforms a base model (GPT-4 base) into a useful product (ChatGPT)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It bridges the gap between "knowing language" and "being helpful"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The Core Challenge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LLMs have billions of parameters (LLaMA 3: 70B, GPT-4: rumored 1.8T)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Full fine-tuning requires enormous GPU memory and compute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This has driven research into efficient alternatives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The LLM Training Pipeline: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Pre-training (self-supervised, massive data) → Supervised Fine-Tuning / Instruction Tuning (task-specific data) → Alignment (human preferences — RLHF/DPO) → Deployment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Three Major Categories: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Full Fine-Tuning &amp; Instruction Tuning (SFT)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Parameter-Efficient Fine-Tuning (PEFT)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Alignment with Human Feedback (RLHF / DPO)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idx="1" type="body"/>
          </p:nvPr>
        </p:nvSpPr>
        <p:spPr>
          <a:xfrm>
            <a:off x="286750" y="1774250"/>
            <a:ext cx="4193700" cy="30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Full Fine-Tuning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Updates ALL parameters of the pre-trained model on task-specific data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Most powerful approach — the model can change completely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But: extremely expensive (GPT-3 full fine-tuning cost ~$0.5–4.6M in compute)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Risk of "catastrophic forgetting" — the model may lose its general knowledge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Requires multiple high-end GPUs (e.g., 8× A100 80GB for a 70B model)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Instruction Tuning (Supervised Fine-Tuning / SFT)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Trains the model on (instruction, output) pairs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Example: ("Summarize this article: ...", "The article discusses...")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This is what makes a base model follow user commands</a:t>
            </a:r>
            <a:endParaRPr b="0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Char char="●"/>
            </a:pPr>
            <a:r>
              <a:rPr b="0" lang="en" sz="1100">
                <a:latin typeface="Arial"/>
                <a:ea typeface="Arial"/>
                <a:cs typeface="Arial"/>
                <a:sym typeface="Arial"/>
              </a:rPr>
              <a:t>Used by: Meta (LLaMA 2 Chat), Google (Gemini), Mistral (Mistral Instruct)</a:t>
            </a:r>
            <a:endParaRPr sz="3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241950" y="228600"/>
            <a:ext cx="86472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/>
              <a:t>Full Fine-Tuning &amp; Instruction Tuning(SFT)</a:t>
            </a:r>
            <a:endParaRPr sz="2900"/>
          </a:p>
        </p:txBody>
      </p:sp>
      <p:sp>
        <p:nvSpPr>
          <p:cNvPr id="231" name="Google Shape;231;p33"/>
          <p:cNvSpPr txBox="1"/>
          <p:nvPr>
            <p:ph idx="2" type="body"/>
          </p:nvPr>
        </p:nvSpPr>
        <p:spPr>
          <a:xfrm>
            <a:off x="4695450" y="1774250"/>
            <a:ext cx="4193700" cy="309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How SFT Datasets Are Created: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Human-annotated:</a:t>
            </a:r>
            <a:r>
              <a:rPr b="0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Experts write instruction-response pairs (expensive but high quality)</a:t>
            </a:r>
            <a:endParaRPr b="0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Distillation:</a:t>
            </a:r>
            <a:r>
              <a:rPr b="0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A strong model (GPT-4) generates training data for a smaller model (Alpaca, Vicuna)</a:t>
            </a:r>
            <a:endParaRPr b="0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Self-improvement:</a:t>
            </a:r>
            <a:r>
              <a:rPr b="0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The model generates and filters its own training data</a:t>
            </a:r>
            <a:endParaRPr b="0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Key Insight: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SFT is typically the FIRST step after pre-training. It establishes baseline instruction-following ability before alignment techniques (RLHF/DPO) are applied.</a:t>
            </a:r>
            <a:endParaRPr b="0" sz="1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Real-world example:</a:t>
            </a:r>
            <a:endParaRPr sz="13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en" sz="1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LLaMA 2 → SFT on instruction data → LLaMA 2 Chat (can follow instructions) → then RLHF → LLaMA 2 Chat (helpful, harmless, honest)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48900" y="654150"/>
            <a:ext cx="4619700" cy="4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The Problem PEFT Solves: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Full fine-tuning a 70B model needs ~140GB+ GPU memory. Most people have 1 GPU with 16-24GB. PEFT methods update only a TINY fraction of parameters (often &lt;1%) while keeping the rest frozen.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LoRA (Low-Rank Adaptation) — The Most Popular Method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How it works: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Instead of updating a large weight matrix W directly, LoRA adds two small matrices A and B where W' = W + A×B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 and B are much smaller (low-rank), so far fewer parameters to train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A 70B model might have only ~1% trainable parameters with LoRA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Saves ~90% GPU memory, trains faster, prevents catastrophic forgetting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Used by: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Most open-source fine-tuning projects today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QLoRA (Quantized LoRA) — Even More Efficient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Combines LoRA with 4-bit quantization of the frozen base model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The base model weights are compressed to 4-bit precision (normally 16-bit)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70B model fits in &lt;48GB VRAM (single GPU possible!)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Trade-off: ~39% slower training, marginally less accurate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Game-changer: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Made fine-tuning large models accessible on consumer hardware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Key Insight: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LoRA/QLoRA have become the de facto standard for fine-tuning open-source LLMs. They dramatically lower the barrier — you can fine-tune a 7B model on a single consumer GPU in a few hours.</a:t>
            </a:r>
            <a:endParaRPr/>
          </a:p>
        </p:txBody>
      </p:sp>
      <p:sp>
        <p:nvSpPr>
          <p:cNvPr id="237" name="Google Shape;237;p34"/>
          <p:cNvSpPr txBox="1"/>
          <p:nvPr>
            <p:ph type="title"/>
          </p:nvPr>
        </p:nvSpPr>
        <p:spPr>
          <a:xfrm>
            <a:off x="48900" y="41800"/>
            <a:ext cx="904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Parameter-Efficient Fine-Tuning (PEFT)</a:t>
            </a:r>
            <a:endParaRPr sz="3200"/>
          </a:p>
        </p:txBody>
      </p:sp>
      <p:graphicFrame>
        <p:nvGraphicFramePr>
          <p:cNvPr id="238" name="Google Shape;238;p34"/>
          <p:cNvGraphicFramePr/>
          <p:nvPr/>
        </p:nvGraphicFramePr>
        <p:xfrm>
          <a:off x="4668600" y="135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{AEB002FB-D4E7-4A9A-B707-DAEB48528CC0}</a:tableStyleId>
              </a:tblPr>
              <a:tblGrid>
                <a:gridCol w="744175"/>
                <a:gridCol w="2124125"/>
                <a:gridCol w="1434150"/>
              </a:tblGrid>
              <a:tr h="39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Method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Idea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Trainable Params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Adapters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Insert small bottleneck layers between transformer blocks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~2-4%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Prefix Tuning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Prepend learnable "virtual tokens" to the input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&lt;1%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Prompt Tuning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Learn soft prompt embeddings (no model changes)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&lt;0.1%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LoRA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Add low-rank matrices to attention layers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~1%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6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QLoRA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LoRA + 4-bit quantized base model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~1%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9" name="Google Shape;239;p34"/>
          <p:cNvSpPr txBox="1"/>
          <p:nvPr/>
        </p:nvSpPr>
        <p:spPr>
          <a:xfrm>
            <a:off x="4856725" y="985675"/>
            <a:ext cx="18549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Other PeFT Methods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(RLHF &amp; DPO)</a:t>
            </a:r>
            <a:endParaRPr/>
          </a:p>
        </p:txBody>
      </p:sp>
      <p:sp>
        <p:nvSpPr>
          <p:cNvPr id="245" name="Google Shape;245;p35"/>
          <p:cNvSpPr txBox="1"/>
          <p:nvPr>
            <p:ph idx="1" type="body"/>
          </p:nvPr>
        </p:nvSpPr>
        <p:spPr>
          <a:xfrm>
            <a:off x="80650" y="681025"/>
            <a:ext cx="4408800" cy="4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Why Alignment?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After SFT, the model follows instructions — but it may still produce harmful, biased, or unhelpful responses. Alignment techniques steer the model to be helpful, harmless, and honest using human preferences.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RLHF (Reinforcement Learning from Human Feedback)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 1: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Collect human preference data — humans rank multiple model outputs for the same prompt (e.g., "Response A is better than Response B")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 2: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Train a Reward Model — a separate neural network that learns to predict human preferences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Step 3: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Optimize the LLM using PPO (Proximal Policy Optimization) — the LLM learns to maximize the reward model's score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Used by: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OpenAI (ChatGPT, GPT-4), Meta (LLaMA 2 Chat)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Downside: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Complex pipeline (3 models needed), expensive, unstable training</a:t>
            </a:r>
            <a:endParaRPr/>
          </a:p>
        </p:txBody>
      </p:sp>
      <p:sp>
        <p:nvSpPr>
          <p:cNvPr id="246" name="Google Shape;246;p35"/>
          <p:cNvSpPr txBox="1"/>
          <p:nvPr>
            <p:ph idx="2" type="body"/>
          </p:nvPr>
        </p:nvSpPr>
        <p:spPr>
          <a:xfrm>
            <a:off x="4832400" y="681025"/>
            <a:ext cx="4271700" cy="43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DPO (Direct Preference Optimization) — Simpler Alternative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Skips the reward model entirely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Directly optimizes the LLM on preference pairs (chosen vs. rejected responses)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Same preference data as RLHF, but simpler math — just a modified loss function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Benefits: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Easier to implement, more stable, cheaper (no separate reward model)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Used by: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Many recent open-source models (Zephyr, Mistral variants)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Newer Methods (2024-2025):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GRPO (Group Relative Policy Optimization):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Used by DeepSeek-R1 for reasoning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ORPO: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Combines SFT + alignment in a single training step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KTO:</a:t>
            </a: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Works with just thumbs-up/thumbs-down feedback (no paired preferences needed)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The Full Pipeline in Practice: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Base Model → SFT (instruction following) → RLHF or DPO (alignment) → Deployed Model</a:t>
            </a:r>
            <a:endParaRPr sz="11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6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Key Insight:</a:t>
            </a:r>
            <a:endParaRPr b="1" sz="13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RLHF is what made ChatGPT feel "smart" — the base GPT-4 model is powerful, but alignment is what makes it safe and helpful. DPO is rapidly replacing RLHF in the open-source community due to its simplicity. DeepSeek-R1 (mentioned in your syllabus) uses GRPO, a reinforcement learning variant, for its reasoning abilities.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